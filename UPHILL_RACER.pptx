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96200" y="700087"/>
            <a:ext cx="4067809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6515" y="1177416"/>
            <a:ext cx="5166995" cy="1837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drewsteevjacob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8825" y="4576826"/>
            <a:ext cx="971550" cy="0"/>
          </a:xfrm>
          <a:custGeom>
            <a:avLst/>
            <a:gdLst/>
            <a:ahLst/>
            <a:cxnLst/>
            <a:rect l="l" t="t" r="r" b="b"/>
            <a:pathLst>
              <a:path w="971550" h="0">
                <a:moveTo>
                  <a:pt x="0" y="0"/>
                </a:moveTo>
                <a:lnTo>
                  <a:pt x="971042" y="0"/>
                </a:lnTo>
              </a:path>
            </a:pathLst>
          </a:custGeom>
          <a:ln w="317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74700" y="5137784"/>
            <a:ext cx="326009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40205" algn="l"/>
              </a:tabLst>
            </a:pPr>
            <a:r>
              <a:rPr dirty="0" sz="3600" spc="-44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3600" spc="-4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5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600" spc="-5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2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3600" spc="-4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3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600" spc="-4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535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3600" spc="-31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600" spc="-43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290" b="1">
                <a:solidFill>
                  <a:srgbClr val="FFFFFF"/>
                </a:solidFill>
                <a:latin typeface="Trebuchet MS"/>
                <a:cs typeface="Trebuchet MS"/>
              </a:rPr>
              <a:t>AY</a:t>
            </a:r>
            <a:r>
              <a:rPr dirty="0" sz="3600" spc="-5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44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3600" spc="-4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2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3600" spc="-4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30" b="1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3275" y="1352867"/>
            <a:ext cx="7265034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140"/>
              <a:t>UPHILL</a:t>
            </a:r>
            <a:r>
              <a:rPr dirty="0" sz="6000" spc="-480"/>
              <a:t> </a:t>
            </a:r>
            <a:r>
              <a:rPr dirty="0" sz="6000" spc="210"/>
              <a:t>RACER</a:t>
            </a:r>
            <a:r>
              <a:rPr dirty="0" sz="6000" spc="-490"/>
              <a:t> </a:t>
            </a:r>
            <a:r>
              <a:rPr dirty="0" sz="6000" spc="200"/>
              <a:t>GAME</a:t>
            </a:r>
            <a:endParaRPr sz="6000"/>
          </a:p>
        </p:txBody>
      </p:sp>
      <p:sp>
        <p:nvSpPr>
          <p:cNvPr id="5" name="object 5" descr=""/>
          <p:cNvSpPr txBox="1"/>
          <p:nvPr/>
        </p:nvSpPr>
        <p:spPr>
          <a:xfrm>
            <a:off x="7044055" y="3981513"/>
            <a:ext cx="2397760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2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andrew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steev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jacob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Sap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590028964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1405255"/>
            <a:ext cx="348234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31265" algn="l"/>
                <a:tab pos="1786889" algn="l"/>
                <a:tab pos="3336925" algn="l"/>
              </a:tabLst>
            </a:pP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90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90" b="1">
                <a:latin typeface="Trebuchet MS"/>
                <a:cs typeface="Trebuchet MS"/>
              </a:rPr>
              <a:t> </a:t>
            </a:r>
            <a:r>
              <a:rPr dirty="0" sz="2750" spc="-405" b="1">
                <a:latin typeface="Trebuchet MS"/>
                <a:cs typeface="Trebuchet MS"/>
              </a:rPr>
              <a:t>Y</a:t>
            </a:r>
            <a:r>
              <a:rPr dirty="0" sz="2750" spc="-254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B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05" b="1">
                <a:latin typeface="Trebuchet MS"/>
                <a:cs typeface="Trebuchet MS"/>
              </a:rPr>
              <a:t>?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9394" y="2279574"/>
            <a:ext cx="7806055" cy="37274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35"/>
              </a:spcBef>
              <a:buSzPct val="82352"/>
              <a:buFont typeface="Arial MT"/>
              <a:buChar char="•"/>
              <a:tabLst>
                <a:tab pos="287020" algn="l"/>
              </a:tabLst>
            </a:pP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Raylib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simple,</a:t>
            </a:r>
            <a:r>
              <a:rPr dirty="0" sz="17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beginner-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friendly</a:t>
            </a:r>
            <a:r>
              <a:rPr dirty="0" sz="17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game</a:t>
            </a:r>
            <a:r>
              <a:rPr dirty="0" sz="17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library</a:t>
            </a: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written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7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C.</a:t>
            </a:r>
            <a:endParaRPr sz="1700">
              <a:latin typeface="Trebuchet MS"/>
              <a:cs typeface="Trebuchet MS"/>
            </a:endParaRPr>
          </a:p>
          <a:p>
            <a:pPr marL="334645">
              <a:lnSpc>
                <a:spcPct val="100000"/>
              </a:lnSpc>
              <a:spcBef>
                <a:spcPts val="440"/>
              </a:spcBef>
            </a:pP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7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helps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17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7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7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FFFFFF"/>
                </a:solidFill>
                <a:latin typeface="Trebuchet MS"/>
                <a:cs typeface="Trebuchet MS"/>
              </a:rPr>
              <a:t>3D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games</a:t>
            </a:r>
            <a:r>
              <a:rPr dirty="0" sz="17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easily</a:t>
            </a:r>
            <a:r>
              <a:rPr dirty="0" sz="17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without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needing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Trebuchet MS"/>
                <a:cs typeface="Trebuchet MS"/>
              </a:rPr>
              <a:t>complicated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engines.</a:t>
            </a:r>
            <a:endParaRPr sz="17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415"/>
              </a:spcBef>
              <a:buSzPct val="82352"/>
              <a:buFont typeface="Arial MT"/>
              <a:buChar char="•"/>
              <a:tabLst>
                <a:tab pos="287020" algn="l"/>
              </a:tabLst>
            </a:pP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Created</a:t>
            </a:r>
            <a:r>
              <a:rPr dirty="0" sz="17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7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Ramon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Santmorie(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RAY)</a:t>
            </a:r>
            <a:endParaRPr sz="17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415"/>
              </a:spcBef>
              <a:buSzPct val="82352"/>
              <a:buFont typeface="Arial MT"/>
              <a:buChar char="•"/>
              <a:tabLst>
                <a:tab pos="287020" algn="l"/>
              </a:tabLst>
            </a:pP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Engine,</a:t>
            </a:r>
            <a:r>
              <a:rPr dirty="0" sz="17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Library</a:t>
            </a:r>
            <a:r>
              <a:rPr dirty="0" sz="17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Raylib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Unity </a:t>
            </a: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Unreal.</a:t>
            </a:r>
            <a:endParaRPr sz="17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415"/>
              </a:spcBef>
              <a:buSzPct val="82352"/>
              <a:buFont typeface="Arial MT"/>
              <a:buChar char="•"/>
              <a:tabLst>
                <a:tab pos="287020" algn="l"/>
              </a:tabLst>
            </a:pP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does</a:t>
            </a:r>
            <a:r>
              <a:rPr dirty="0" sz="17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NOT:</a:t>
            </a:r>
            <a:endParaRPr sz="1700">
              <a:latin typeface="Trebuchet MS"/>
              <a:cs typeface="Trebuchet MS"/>
            </a:endParaRPr>
          </a:p>
          <a:p>
            <a:pPr marL="918210">
              <a:lnSpc>
                <a:spcPct val="100000"/>
              </a:lnSpc>
              <a:spcBef>
                <a:spcPts val="1415"/>
              </a:spcBef>
            </a:pP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Give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17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dirty="0" sz="17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editor</a:t>
            </a:r>
            <a:endParaRPr sz="1700">
              <a:latin typeface="Trebuchet MS"/>
              <a:cs typeface="Trebuchet MS"/>
            </a:endParaRPr>
          </a:p>
          <a:p>
            <a:pPr marL="918210" marR="4192904">
              <a:lnSpc>
                <a:spcPct val="169400"/>
              </a:lnSpc>
            </a:pP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Handle</a:t>
            </a:r>
            <a:r>
              <a:rPr dirty="0" sz="17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physics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automatically 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Give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17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7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scene</a:t>
            </a:r>
            <a:r>
              <a:rPr dirty="0" sz="17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1700">
              <a:latin typeface="Trebuchet MS"/>
              <a:cs typeface="Trebuchet MS"/>
            </a:endParaRPr>
          </a:p>
          <a:p>
            <a:pPr marL="918210">
              <a:lnSpc>
                <a:spcPct val="100000"/>
              </a:lnSpc>
              <a:spcBef>
                <a:spcPts val="1415"/>
              </a:spcBef>
            </a:pPr>
            <a:r>
              <a:rPr dirty="0" sz="1700" spc="-8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17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dirty="0" sz="17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manually</a:t>
            </a:r>
            <a:r>
              <a:rPr dirty="0" sz="17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475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17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dirty="0" sz="17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7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dirty="0" sz="17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it's</a:t>
            </a:r>
            <a:r>
              <a:rPr dirty="0" sz="17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great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7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learning.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1550" y="3400425"/>
            <a:ext cx="325755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1405255"/>
            <a:ext cx="504761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21130" algn="l"/>
                <a:tab pos="2326005" algn="l"/>
                <a:tab pos="3392804" algn="l"/>
              </a:tabLst>
            </a:pP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55" b="1">
                <a:latin typeface="Trebuchet MS"/>
                <a:cs typeface="Trebuchet MS"/>
              </a:rPr>
              <a:t>F</a:t>
            </a:r>
            <a:r>
              <a:rPr dirty="0" sz="2750" spc="-27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17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R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225" b="1">
                <a:latin typeface="Trebuchet MS"/>
                <a:cs typeface="Trebuchet MS"/>
              </a:rPr>
              <a:t> R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70" b="1">
                <a:latin typeface="Trebuchet MS"/>
                <a:cs typeface="Trebuchet MS"/>
              </a:rPr>
              <a:t>J</a:t>
            </a:r>
            <a:r>
              <a:rPr dirty="0" sz="2750" spc="-275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170" b="1">
                <a:latin typeface="Trebuchet MS"/>
                <a:cs typeface="Trebuchet MS"/>
              </a:rPr>
              <a:t> 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305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9394" y="2360231"/>
            <a:ext cx="4071620" cy="223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gravity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friction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terrain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collision</a:t>
            </a:r>
            <a:r>
              <a:rPr dirty="0" sz="18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59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suspension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Generate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randomly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generated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terrain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2094" y="892555"/>
            <a:ext cx="878776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132840" algn="l"/>
                <a:tab pos="1523365" algn="l"/>
                <a:tab pos="1846580" algn="l"/>
                <a:tab pos="3180080" algn="l"/>
                <a:tab pos="4751070" algn="l"/>
                <a:tab pos="6102985" algn="l"/>
                <a:tab pos="7045959" algn="l"/>
              </a:tabLst>
            </a:pP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38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45" b="1">
                <a:latin typeface="Trebuchet MS"/>
                <a:cs typeface="Trebuchet MS"/>
              </a:rPr>
              <a:t>1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50" b="1">
                <a:latin typeface="Trebuchet MS"/>
                <a:cs typeface="Trebuchet MS"/>
              </a:rPr>
              <a:t>(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55" b="1">
                <a:latin typeface="Trebuchet MS"/>
                <a:cs typeface="Trebuchet MS"/>
              </a:rPr>
              <a:t>B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C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55" b="1">
                <a:latin typeface="Trebuchet MS"/>
                <a:cs typeface="Trebuchet MS"/>
              </a:rPr>
              <a:t>B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17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R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D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54" b="1">
                <a:latin typeface="Trebuchet MS"/>
                <a:cs typeface="Trebuchet MS"/>
              </a:rPr>
              <a:t>D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10" b="1">
                <a:latin typeface="Trebuchet MS"/>
                <a:cs typeface="Trebuchet MS"/>
              </a:rPr>
              <a:t> </a:t>
            </a: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20" b="1">
                <a:latin typeface="Trebuchet MS"/>
                <a:cs typeface="Trebuchet MS"/>
              </a:rPr>
              <a:t>G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9394" y="1407413"/>
            <a:ext cx="3066415" cy="12134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50" b="1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2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75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buSzPct val="82352"/>
              <a:buFont typeface="Arial MT"/>
              <a:buChar char="•"/>
              <a:tabLst>
                <a:tab pos="287020" algn="l"/>
              </a:tabLst>
            </a:pP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17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dirty="0" sz="17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7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04899" y="2827591"/>
            <a:ext cx="407987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creates</a:t>
            </a:r>
            <a:r>
              <a:rPr dirty="0" sz="125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blank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30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r>
              <a:rPr dirty="0" sz="12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2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rebuchet MS"/>
                <a:cs typeface="Trebuchet MS"/>
              </a:rPr>
              <a:t>now</a:t>
            </a:r>
            <a:r>
              <a:rPr dirty="0" sz="12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dirty="0" sz="12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main</a:t>
            </a:r>
            <a:r>
              <a:rPr dirty="0" sz="125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37915" y="2827591"/>
            <a:ext cx="1675764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NOW</a:t>
            </a:r>
            <a:r>
              <a:rPr dirty="0" sz="12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75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dirty="0" sz="12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7150" y="3105150"/>
            <a:ext cx="2990850" cy="3505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6925" y="3124200"/>
            <a:ext cx="415290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256603"/>
            <a:ext cx="358267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74214" algn="l"/>
                <a:tab pos="2869565" algn="l"/>
              </a:tabLst>
            </a:pPr>
            <a:r>
              <a:rPr dirty="0" sz="2750" spc="-254" b="1">
                <a:latin typeface="Trebuchet MS"/>
                <a:cs typeface="Trebuchet MS"/>
              </a:rPr>
              <a:t>D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00" b="1">
                <a:latin typeface="Trebuchet MS"/>
                <a:cs typeface="Trebuchet MS"/>
              </a:rPr>
              <a:t> </a:t>
            </a: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420" b="1">
                <a:latin typeface="Trebuchet MS"/>
                <a:cs typeface="Trebuchet MS"/>
              </a:rPr>
              <a:t>G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H</a:t>
            </a:r>
            <a:r>
              <a:rPr dirty="0" sz="2750" spc="-155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150" b="1">
                <a:latin typeface="Trebuchet MS"/>
                <a:cs typeface="Trebuchet MS"/>
              </a:rPr>
              <a:t>R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90080" y="321330"/>
            <a:ext cx="3478529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5080" indent="-274320">
              <a:lnSpc>
                <a:spcPct val="130900"/>
              </a:lnSpc>
              <a:spcBef>
                <a:spcPts val="95"/>
              </a:spcBef>
            </a:pP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struct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dirty="0" sz="11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able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1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assign</a:t>
            </a:r>
            <a:r>
              <a:rPr dirty="0" sz="11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the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1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example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dirty="0" sz="11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1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HEIGHT,WIDTH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1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everything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else</a:t>
            </a:r>
            <a:r>
              <a:rPr dirty="0" sz="11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1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might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1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1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90080" y="1103566"/>
            <a:ext cx="3588385" cy="180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7020" marR="5080" indent="-274320">
              <a:lnSpc>
                <a:spcPct val="130900"/>
              </a:lnSpc>
              <a:spcBef>
                <a:spcPts val="95"/>
              </a:spcBef>
              <a:buSzPct val="81818"/>
              <a:buFont typeface="Arial MT"/>
              <a:buChar char="•"/>
              <a:tabLst>
                <a:tab pos="287020" algn="l"/>
              </a:tabLst>
            </a:pP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formula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was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able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assign</a:t>
            </a:r>
            <a:r>
              <a:rPr dirty="0" sz="11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1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both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70">
                <a:solidFill>
                  <a:srgbClr val="FFFFFF"/>
                </a:solidFill>
                <a:latin typeface="Trebuchet MS"/>
                <a:cs typeface="Trebuchet MS"/>
              </a:rPr>
              <a:t>front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dirty="0" sz="11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wheel</a:t>
            </a:r>
            <a:r>
              <a:rPr dirty="0" sz="11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respect</a:t>
            </a:r>
            <a:r>
              <a:rPr dirty="0" sz="11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9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1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we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write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coordinate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wheels</a:t>
            </a:r>
            <a:r>
              <a:rPr dirty="0" sz="11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1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respect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to car</a:t>
            </a:r>
            <a:r>
              <a:rPr dirty="0" sz="11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both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 in</a:t>
            </a:r>
            <a:r>
              <a:rPr dirty="0" sz="11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1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axis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Trebuchet MS"/>
              <a:cs typeface="Trebuchet MS"/>
            </a:endParaRPr>
          </a:p>
          <a:p>
            <a:pPr marL="182245">
              <a:lnSpc>
                <a:spcPct val="100000"/>
              </a:lnSpc>
            </a:pP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backwheel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1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example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x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coordinate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written</a:t>
            </a:r>
            <a:r>
              <a:rPr dirty="0" sz="11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100">
              <a:latin typeface="Trebuchet MS"/>
              <a:cs typeface="Trebuchet MS"/>
            </a:endParaRPr>
          </a:p>
          <a:p>
            <a:pPr marL="12700" marR="280035">
              <a:lnSpc>
                <a:spcPct val="130800"/>
              </a:lnSpc>
              <a:spcBef>
                <a:spcPts val="975"/>
              </a:spcBef>
            </a:pPr>
            <a:r>
              <a:rPr dirty="0" sz="1100" spc="-85">
                <a:solidFill>
                  <a:srgbClr val="FFFFFF"/>
                </a:solidFill>
                <a:latin typeface="Trebuchet MS"/>
                <a:cs typeface="Trebuchet MS"/>
              </a:rPr>
              <a:t>.x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6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dirty="0" sz="11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1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34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11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1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width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14">
                <a:solidFill>
                  <a:srgbClr val="FFFFFF"/>
                </a:solidFill>
                <a:latin typeface="Trebuchet MS"/>
                <a:cs typeface="Trebuchet MS"/>
              </a:rPr>
              <a:t>/2</a:t>
            </a:r>
            <a:r>
              <a:rPr dirty="0" sz="11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6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1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backwheel</a:t>
            </a:r>
            <a:r>
              <a:rPr dirty="0" sz="11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radius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Trebuchet MS"/>
                <a:cs typeface="Trebuchet MS"/>
              </a:rPr>
              <a:t>+ </a:t>
            </a:r>
            <a:r>
              <a:rPr dirty="0" sz="1100" spc="-30">
                <a:solidFill>
                  <a:srgbClr val="FFFFFF"/>
                </a:solidFill>
                <a:latin typeface="Trebuchet MS"/>
                <a:cs typeface="Trebuchet MS"/>
              </a:rPr>
              <a:t>backwheel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padding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90080" y="3411791"/>
            <a:ext cx="29260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Padding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100" spc="-55">
                <a:solidFill>
                  <a:srgbClr val="FFFFFF"/>
                </a:solidFill>
                <a:latin typeface="Trebuchet MS"/>
                <a:cs typeface="Trebuchet MS"/>
              </a:rPr>
              <a:t>extra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11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1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wheels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38150" y="895350"/>
            <a:ext cx="11372850" cy="5734050"/>
            <a:chOff x="438150" y="895350"/>
            <a:chExt cx="11372850" cy="57340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895350"/>
              <a:ext cx="6305550" cy="4610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0150" y="5048250"/>
              <a:ext cx="6800850" cy="15811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592137"/>
            <a:ext cx="28016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16990" algn="l"/>
              </a:tabLst>
            </a:pPr>
            <a:r>
              <a:rPr dirty="0" sz="2750" spc="-370" b="1">
                <a:latin typeface="Trebuchet MS"/>
                <a:cs typeface="Trebuchet MS"/>
              </a:rPr>
              <a:t>F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90" b="1">
                <a:latin typeface="Trebuchet MS"/>
                <a:cs typeface="Trebuchet MS"/>
              </a:rPr>
              <a:t>L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215" b="1">
                <a:latin typeface="Trebuchet MS"/>
                <a:cs typeface="Trebuchet MS"/>
              </a:rPr>
              <a:t>P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1181100"/>
            <a:ext cx="6162675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242" y="499744"/>
            <a:ext cx="3418204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97635" algn="l"/>
                <a:tab pos="1812289" algn="l"/>
              </a:tabLst>
            </a:pP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38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345" b="1">
                <a:latin typeface="Trebuchet MS"/>
                <a:cs typeface="Trebuchet MS"/>
              </a:rPr>
              <a:t>2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455" b="1">
                <a:latin typeface="Trebuchet MS"/>
                <a:cs typeface="Trebuchet MS"/>
              </a:rPr>
              <a:t>–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90" b="1">
                <a:latin typeface="Trebuchet MS"/>
                <a:cs typeface="Trebuchet MS"/>
              </a:rPr>
              <a:t> </a:t>
            </a:r>
            <a:r>
              <a:rPr dirty="0" sz="2750" spc="-380" b="1">
                <a:latin typeface="Trebuchet MS"/>
                <a:cs typeface="Trebuchet MS"/>
              </a:rPr>
              <a:t>V</a:t>
            </a:r>
            <a:r>
              <a:rPr dirty="0" sz="2750" spc="-15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0" b="1">
                <a:latin typeface="Trebuchet MS"/>
                <a:cs typeface="Trebuchet MS"/>
              </a:rPr>
              <a:t> </a:t>
            </a:r>
            <a:r>
              <a:rPr dirty="0" sz="2750" spc="-455" b="1">
                <a:latin typeface="Trebuchet MS"/>
                <a:cs typeface="Trebuchet MS"/>
              </a:rPr>
              <a:t>Y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95565" y="360858"/>
            <a:ext cx="3707129" cy="740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marR="5080" indent="-274320">
              <a:lnSpc>
                <a:spcPct val="130400"/>
              </a:lnSpc>
              <a:spcBef>
                <a:spcPts val="95"/>
              </a:spcBef>
              <a:buSzPct val="87500"/>
              <a:buFont typeface="Arial MT"/>
              <a:buChar char="•"/>
              <a:tabLst>
                <a:tab pos="286385" algn="l"/>
              </a:tabLst>
            </a:pP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12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GetFrametime()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1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inbuild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raylib 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2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able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r>
              <a:rPr dirty="0" sz="12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per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second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rate</a:t>
            </a:r>
            <a:r>
              <a:rPr dirty="0" sz="12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movement</a:t>
            </a:r>
            <a:r>
              <a:rPr dirty="0" sz="12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screen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95565" y="1254823"/>
            <a:ext cx="4181475" cy="2306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SzPct val="87500"/>
              <a:buFont typeface="Arial MT"/>
              <a:buChar char="•"/>
              <a:tabLst>
                <a:tab pos="286385" algn="l"/>
              </a:tabLst>
            </a:pP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Defining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gravity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start</a:t>
            </a: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terms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2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pixels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Arial MT"/>
              <a:buChar char="•"/>
            </a:pPr>
            <a:endParaRPr sz="1200">
              <a:latin typeface="Trebuchet MS"/>
              <a:cs typeface="Trebuchet MS"/>
            </a:endParaRPr>
          </a:p>
          <a:p>
            <a:pPr marL="286385" indent="-273685">
              <a:lnSpc>
                <a:spcPct val="100000"/>
              </a:lnSpc>
              <a:buSzPct val="87500"/>
              <a:buFont typeface="Arial MT"/>
              <a:buChar char="•"/>
              <a:tabLst>
                <a:tab pos="286385" algn="l"/>
              </a:tabLst>
            </a:pP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2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defining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dt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55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GetFrametime()</a:t>
            </a:r>
            <a:endParaRPr sz="1200">
              <a:latin typeface="Trebuchet MS"/>
              <a:cs typeface="Trebuchet MS"/>
            </a:endParaRPr>
          </a:p>
          <a:p>
            <a:pPr marL="286385" marR="461009">
              <a:lnSpc>
                <a:spcPct val="130400"/>
              </a:lnSpc>
            </a:pP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multiply</a:t>
            </a:r>
            <a:r>
              <a:rPr dirty="0" sz="12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dt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GRAVITY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add 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2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moslty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acts</a:t>
            </a:r>
            <a:r>
              <a:rPr dirty="0" sz="12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axis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but 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changes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added</a:t>
            </a:r>
            <a:r>
              <a:rPr dirty="0" sz="12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changes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 in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2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axis</a:t>
            </a:r>
            <a:r>
              <a:rPr dirty="0" sz="12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286385" marR="589280" indent="-274320">
              <a:lnSpc>
                <a:spcPct val="130400"/>
              </a:lnSpc>
              <a:spcBef>
                <a:spcPts val="980"/>
              </a:spcBef>
              <a:buSzPct val="87500"/>
              <a:buFont typeface="Arial MT"/>
              <a:buChar char="•"/>
              <a:tabLst>
                <a:tab pos="286385" algn="l"/>
              </a:tabLst>
            </a:pP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dirty="0" sz="12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dirty="0" sz="12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r>
              <a:rPr dirty="0" sz="12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2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when</a:t>
            </a:r>
            <a:r>
              <a:rPr dirty="0" sz="12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reaches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bottom</a:t>
            </a:r>
            <a:r>
              <a:rPr dirty="0" sz="1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defined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screen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2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stops</a:t>
            </a:r>
            <a:r>
              <a:rPr dirty="0" sz="12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moving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550" spc="-50" b="1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1200150"/>
            <a:ext cx="5810250" cy="1638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5" y="3124200"/>
            <a:ext cx="64770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869" y="541019"/>
            <a:ext cx="466217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3160" algn="l"/>
                <a:tab pos="1847214" algn="l"/>
                <a:tab pos="2389505" algn="l"/>
              </a:tabLst>
            </a:pP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360" b="1">
                <a:latin typeface="Trebuchet MS"/>
                <a:cs typeface="Trebuchet MS"/>
              </a:rPr>
              <a:t>H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90" b="1">
                <a:latin typeface="Trebuchet MS"/>
                <a:cs typeface="Trebuchet MS"/>
              </a:rPr>
              <a:t>O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05" b="1">
                <a:latin typeface="Trebuchet MS"/>
                <a:cs typeface="Trebuchet MS"/>
              </a:rPr>
              <a:t>F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54" b="1">
                <a:latin typeface="Trebuchet MS"/>
                <a:cs typeface="Trebuchet MS"/>
              </a:rPr>
              <a:t>D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25" b="1">
                <a:latin typeface="Trebuchet MS"/>
                <a:cs typeface="Trebuchet MS"/>
              </a:rPr>
              <a:t>.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98783" y="541019"/>
            <a:ext cx="396811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3160" algn="l"/>
                <a:tab pos="1695450" algn="l"/>
              </a:tabLst>
            </a:pPr>
            <a:r>
              <a:rPr dirty="0" sz="2750" spc="-484" b="1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5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60" b="1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0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27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3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5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54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50" spc="-2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3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25" b="1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1323975"/>
            <a:ext cx="4962525" cy="42100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3225" y="1247775"/>
            <a:ext cx="4962525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905" y="661098"/>
            <a:ext cx="515493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97635" algn="l"/>
                <a:tab pos="1812289" algn="l"/>
                <a:tab pos="2734945" algn="l"/>
              </a:tabLst>
            </a:pP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38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8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345" b="1">
                <a:latin typeface="Trebuchet MS"/>
                <a:cs typeface="Trebuchet MS"/>
              </a:rPr>
              <a:t>3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455" b="1">
                <a:latin typeface="Trebuchet MS"/>
                <a:cs typeface="Trebuchet MS"/>
              </a:rPr>
              <a:t>–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R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05" b="1">
                <a:latin typeface="Trebuchet MS"/>
                <a:cs typeface="Trebuchet MS"/>
              </a:rPr>
              <a:t>S</a:t>
            </a:r>
            <a:r>
              <a:rPr dirty="0" sz="2750" spc="-285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30" b="1"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79450">
              <a:lnSpc>
                <a:spcPct val="130300"/>
              </a:lnSpc>
              <a:spcBef>
                <a:spcPts val="100"/>
              </a:spcBef>
            </a:pPr>
            <a:r>
              <a:rPr dirty="0" spc="-20"/>
              <a:t>Car</a:t>
            </a:r>
            <a:r>
              <a:rPr dirty="0" spc="-50"/>
              <a:t> </a:t>
            </a:r>
            <a:r>
              <a:rPr dirty="0"/>
              <a:t>supsension</a:t>
            </a:r>
            <a:r>
              <a:rPr dirty="0" spc="-100"/>
              <a:t> </a:t>
            </a:r>
            <a:r>
              <a:rPr dirty="0" spc="-40"/>
              <a:t>work</a:t>
            </a:r>
            <a:r>
              <a:rPr dirty="0" spc="-110"/>
              <a:t> </a:t>
            </a:r>
            <a:r>
              <a:rPr dirty="0"/>
              <a:t>on</a:t>
            </a:r>
            <a:r>
              <a:rPr dirty="0" spc="-100"/>
              <a:t> </a:t>
            </a:r>
            <a:r>
              <a:rPr dirty="0" spc="-45"/>
              <a:t>the</a:t>
            </a:r>
            <a:r>
              <a:rPr dirty="0" spc="-55"/>
              <a:t> </a:t>
            </a:r>
            <a:r>
              <a:rPr dirty="0" spc="-10"/>
              <a:t>basic</a:t>
            </a:r>
            <a:r>
              <a:rPr dirty="0" spc="-130"/>
              <a:t> </a:t>
            </a:r>
            <a:r>
              <a:rPr dirty="0" spc="-30"/>
              <a:t>idea</a:t>
            </a:r>
            <a:r>
              <a:rPr dirty="0" spc="-55"/>
              <a:t> </a:t>
            </a:r>
            <a:r>
              <a:rPr dirty="0" spc="-40"/>
              <a:t>of</a:t>
            </a:r>
            <a:r>
              <a:rPr dirty="0" spc="-80"/>
              <a:t> </a:t>
            </a:r>
            <a:r>
              <a:rPr dirty="0"/>
              <a:t>hooke's</a:t>
            </a:r>
            <a:r>
              <a:rPr dirty="0" spc="-35"/>
              <a:t> </a:t>
            </a:r>
            <a:r>
              <a:rPr dirty="0" spc="-60"/>
              <a:t>law</a:t>
            </a:r>
            <a:r>
              <a:rPr dirty="0" spc="-100"/>
              <a:t> </a:t>
            </a:r>
            <a:r>
              <a:rPr dirty="0" spc="-105"/>
              <a:t>,</a:t>
            </a:r>
            <a:r>
              <a:rPr dirty="0" spc="-70"/>
              <a:t> </a:t>
            </a:r>
            <a:r>
              <a:rPr dirty="0" spc="-40"/>
              <a:t>finding</a:t>
            </a:r>
            <a:r>
              <a:rPr dirty="0" spc="-45"/>
              <a:t> </a:t>
            </a:r>
            <a:r>
              <a:rPr dirty="0" spc="-55"/>
              <a:t>out</a:t>
            </a:r>
            <a:r>
              <a:rPr dirty="0" spc="-30"/>
              <a:t> </a:t>
            </a:r>
            <a:r>
              <a:rPr dirty="0" spc="-25"/>
              <a:t>the </a:t>
            </a:r>
            <a:r>
              <a:rPr dirty="0" spc="-40"/>
              <a:t>attachment point</a:t>
            </a:r>
            <a:r>
              <a:rPr dirty="0" spc="-120"/>
              <a:t> </a:t>
            </a:r>
            <a:r>
              <a:rPr dirty="0" spc="-45"/>
              <a:t>the</a:t>
            </a:r>
            <a:r>
              <a:rPr dirty="0" spc="-60"/>
              <a:t> </a:t>
            </a:r>
            <a:r>
              <a:rPr dirty="0" spc="-35"/>
              <a:t>resting </a:t>
            </a:r>
            <a:r>
              <a:rPr dirty="0" spc="-45"/>
              <a:t>lenth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45"/>
              <a:t>the</a:t>
            </a:r>
            <a:r>
              <a:rPr dirty="0" spc="-140"/>
              <a:t> </a:t>
            </a:r>
            <a:r>
              <a:rPr dirty="0" spc="-30"/>
              <a:t>actual</a:t>
            </a:r>
            <a:r>
              <a:rPr dirty="0" spc="-100"/>
              <a:t> </a:t>
            </a:r>
            <a:r>
              <a:rPr dirty="0" spc="-10"/>
              <a:t>length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35"/>
              <a:t>Calculating</a:t>
            </a:r>
            <a:r>
              <a:rPr dirty="0" spc="-50"/>
              <a:t> </a:t>
            </a:r>
            <a:r>
              <a:rPr dirty="0" spc="-40"/>
              <a:t>stretch</a:t>
            </a:r>
            <a:r>
              <a:rPr dirty="0" spc="-25"/>
              <a:t> </a:t>
            </a:r>
            <a:r>
              <a:rPr dirty="0" spc="55"/>
              <a:t>=</a:t>
            </a:r>
            <a:r>
              <a:rPr dirty="0" spc="-120"/>
              <a:t> </a:t>
            </a:r>
            <a:r>
              <a:rPr dirty="0" spc="-35"/>
              <a:t>length</a:t>
            </a:r>
            <a:r>
              <a:rPr dirty="0" spc="-25"/>
              <a:t> </a:t>
            </a:r>
            <a:r>
              <a:rPr dirty="0" spc="350"/>
              <a:t>–</a:t>
            </a:r>
            <a:r>
              <a:rPr dirty="0" spc="-80"/>
              <a:t> </a:t>
            </a:r>
            <a:r>
              <a:rPr dirty="0" spc="-30"/>
              <a:t>resting</a:t>
            </a:r>
            <a:r>
              <a:rPr dirty="0" spc="-130"/>
              <a:t> </a:t>
            </a:r>
            <a:r>
              <a:rPr dirty="0" spc="-10"/>
              <a:t>length</a:t>
            </a:r>
          </a:p>
          <a:p>
            <a:pPr marL="12700" marR="5080">
              <a:lnSpc>
                <a:spcPct val="130400"/>
              </a:lnSpc>
              <a:spcBef>
                <a:spcPts val="975"/>
              </a:spcBef>
            </a:pPr>
            <a:r>
              <a:rPr dirty="0" spc="-40"/>
              <a:t>Calclulating</a:t>
            </a:r>
            <a:r>
              <a:rPr dirty="0" spc="-65"/>
              <a:t> </a:t>
            </a:r>
            <a:r>
              <a:rPr dirty="0" spc="-45"/>
              <a:t>the</a:t>
            </a:r>
            <a:r>
              <a:rPr dirty="0" spc="-60"/>
              <a:t> </a:t>
            </a:r>
            <a:r>
              <a:rPr dirty="0"/>
              <a:t>spring</a:t>
            </a:r>
            <a:r>
              <a:rPr dirty="0" spc="195"/>
              <a:t> </a:t>
            </a:r>
            <a:r>
              <a:rPr dirty="0" spc="-40"/>
              <a:t>force</a:t>
            </a:r>
            <a:r>
              <a:rPr dirty="0" spc="-60"/>
              <a:t> </a:t>
            </a:r>
            <a:r>
              <a:rPr dirty="0" spc="55"/>
              <a:t>=</a:t>
            </a:r>
            <a:r>
              <a:rPr dirty="0" spc="-125"/>
              <a:t> </a:t>
            </a:r>
            <a:r>
              <a:rPr dirty="0" spc="-40"/>
              <a:t>stretch</a:t>
            </a:r>
            <a:r>
              <a:rPr dirty="0" spc="-25"/>
              <a:t> </a:t>
            </a:r>
            <a:r>
              <a:rPr dirty="0"/>
              <a:t>*</a:t>
            </a:r>
            <a:r>
              <a:rPr dirty="0" spc="-75"/>
              <a:t> </a:t>
            </a:r>
            <a:r>
              <a:rPr dirty="0" spc="-50"/>
              <a:t>wheel</a:t>
            </a:r>
            <a:r>
              <a:rPr dirty="0" spc="-45"/>
              <a:t> </a:t>
            </a:r>
            <a:r>
              <a:rPr dirty="0" spc="-25"/>
              <a:t>stifness</a:t>
            </a:r>
            <a:r>
              <a:rPr dirty="0" spc="-95"/>
              <a:t> </a:t>
            </a:r>
            <a:r>
              <a:rPr dirty="0" spc="-45"/>
              <a:t>(</a:t>
            </a:r>
            <a:r>
              <a:rPr dirty="0" spc="-60"/>
              <a:t> </a:t>
            </a:r>
            <a:r>
              <a:rPr dirty="0" spc="-40"/>
              <a:t>more</a:t>
            </a:r>
            <a:r>
              <a:rPr dirty="0" spc="-55"/>
              <a:t> </a:t>
            </a:r>
            <a:r>
              <a:rPr dirty="0" spc="-45"/>
              <a:t>the</a:t>
            </a:r>
            <a:r>
              <a:rPr dirty="0" spc="-60"/>
              <a:t> </a:t>
            </a:r>
            <a:r>
              <a:rPr dirty="0" spc="-35"/>
              <a:t>stiffness</a:t>
            </a:r>
            <a:r>
              <a:rPr dirty="0" spc="-50"/>
              <a:t> </a:t>
            </a:r>
            <a:r>
              <a:rPr dirty="0" spc="-20"/>
              <a:t>more </a:t>
            </a:r>
            <a:r>
              <a:rPr dirty="0" spc="-45"/>
              <a:t>the</a:t>
            </a:r>
            <a:r>
              <a:rPr dirty="0" spc="-70"/>
              <a:t> </a:t>
            </a:r>
            <a:r>
              <a:rPr dirty="0" spc="-25"/>
              <a:t>continous</a:t>
            </a:r>
            <a:r>
              <a:rPr dirty="0" spc="-50"/>
              <a:t> </a:t>
            </a:r>
            <a:r>
              <a:rPr dirty="0" spc="-10"/>
              <a:t>bounce</a:t>
            </a:r>
            <a:r>
              <a:rPr dirty="0" spc="-45"/>
              <a:t> </a:t>
            </a:r>
            <a:r>
              <a:rPr dirty="0" spc="-50"/>
              <a:t>)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WRITING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CODE</a:t>
            </a:r>
            <a:r>
              <a:rPr dirty="0" spc="-95"/>
              <a:t> </a:t>
            </a:r>
            <a:r>
              <a:rPr dirty="0"/>
              <a:t>JUST</a:t>
            </a:r>
            <a:r>
              <a:rPr dirty="0" spc="5"/>
              <a:t> </a:t>
            </a:r>
            <a:r>
              <a:rPr dirty="0" spc="-35"/>
              <a:t>TILL</a:t>
            </a:r>
            <a:r>
              <a:rPr dirty="0" spc="-100"/>
              <a:t> </a:t>
            </a:r>
            <a:r>
              <a:rPr dirty="0" spc="50"/>
              <a:t>HERE</a:t>
            </a:r>
            <a:r>
              <a:rPr dirty="0" spc="-10"/>
              <a:t> </a:t>
            </a:r>
            <a:r>
              <a:rPr dirty="0" spc="60"/>
              <a:t>MAKES</a:t>
            </a:r>
            <a:r>
              <a:rPr dirty="0" spc="-90"/>
              <a:t> </a:t>
            </a:r>
            <a:r>
              <a:rPr dirty="0" spc="60"/>
              <a:t>AN</a:t>
            </a:r>
            <a:r>
              <a:rPr dirty="0" spc="-50"/>
              <a:t> </a:t>
            </a:r>
            <a:r>
              <a:rPr dirty="0"/>
              <a:t>INFINITE</a:t>
            </a:r>
            <a:r>
              <a:rPr dirty="0" spc="-95"/>
              <a:t> </a:t>
            </a:r>
            <a:r>
              <a:rPr dirty="0" spc="-20"/>
              <a:t>LOOP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06515" y="3113341"/>
            <a:ext cx="510095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100"/>
              </a:spcBef>
            </a:pPr>
            <a:r>
              <a:rPr dirty="0" sz="1200" spc="-11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slow</a:t>
            </a:r>
            <a:r>
              <a:rPr dirty="0" sz="12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down</a:t>
            </a:r>
            <a:r>
              <a:rPr dirty="0" sz="1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dirty="0" sz="12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bouce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2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 we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introduce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DAMPING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decreases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bounce</a:t>
            </a:r>
            <a:r>
              <a:rPr dirty="0" sz="1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gradual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bounces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06515" y="3779520"/>
            <a:ext cx="5106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Updating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dirty="0" sz="12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2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wheels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according</a:t>
            </a:r>
            <a:r>
              <a:rPr dirty="0" sz="12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 the</a:t>
            </a:r>
            <a:r>
              <a:rPr dirty="0" sz="1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rebuchet MS"/>
                <a:cs typeface="Trebuchet MS"/>
              </a:rPr>
              <a:t>calculated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755755" y="3295078"/>
            <a:ext cx="1212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14" b="1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238250"/>
            <a:ext cx="5734050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97880" y="207644"/>
            <a:ext cx="403860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16990" algn="l"/>
                <a:tab pos="3002280" algn="l"/>
                <a:tab pos="3325495" algn="l"/>
              </a:tabLst>
            </a:pPr>
            <a:r>
              <a:rPr dirty="0" sz="2750" spc="-35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2750" spc="-2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9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43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5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2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75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2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1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27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2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75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50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50" b="1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27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14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112" y="116331"/>
            <a:ext cx="4032885" cy="1055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90"/>
              </a:spcBef>
              <a:tabLst>
                <a:tab pos="1764030" algn="l"/>
                <a:tab pos="2411095" algn="l"/>
                <a:tab pos="2649220" algn="l"/>
              </a:tabLst>
            </a:pP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4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16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04" b="1">
                <a:latin typeface="Trebuchet MS"/>
                <a:cs typeface="Trebuchet MS"/>
              </a:rPr>
              <a:t> </a:t>
            </a: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50" b="1">
                <a:latin typeface="Trebuchet MS"/>
                <a:cs typeface="Trebuchet MS"/>
              </a:rPr>
              <a:t>H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405" b="1">
                <a:latin typeface="Trebuchet MS"/>
                <a:cs typeface="Trebuchet MS"/>
              </a:rPr>
              <a:t>F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405" b="1">
                <a:latin typeface="Trebuchet MS"/>
                <a:cs typeface="Trebuchet MS"/>
              </a:rPr>
              <a:t>Y</a:t>
            </a:r>
            <a:r>
              <a:rPr dirty="0" sz="2750" spc="-400" b="1">
                <a:latin typeface="Trebuchet MS"/>
                <a:cs typeface="Trebuchet MS"/>
              </a:rPr>
              <a:t> </a:t>
            </a:r>
            <a:r>
              <a:rPr dirty="0" sz="2750" spc="-165" b="1">
                <a:latin typeface="Trebuchet MS"/>
                <a:cs typeface="Trebuchet MS"/>
              </a:rPr>
              <a:t>-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105" b="1">
                <a:latin typeface="Trebuchet MS"/>
                <a:cs typeface="Trebuchet MS"/>
              </a:rPr>
              <a:t>S</a:t>
            </a:r>
            <a:r>
              <a:rPr dirty="0" sz="2750" spc="-270" b="1">
                <a:latin typeface="Trebuchet MS"/>
                <a:cs typeface="Trebuchet MS"/>
              </a:rPr>
              <a:t> </a:t>
            </a: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165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105" b="1">
                <a:latin typeface="Trebuchet MS"/>
                <a:cs typeface="Trebuchet MS"/>
              </a:rPr>
              <a:t>S</a:t>
            </a:r>
            <a:r>
              <a:rPr dirty="0" sz="2750" spc="-27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10" b="1">
                <a:latin typeface="Trebuchet MS"/>
                <a:cs typeface="Trebuchet MS"/>
              </a:rPr>
              <a:t>N</a:t>
            </a:r>
            <a:r>
              <a:rPr dirty="0" sz="2750" b="1">
                <a:latin typeface="Trebuchet MS"/>
                <a:cs typeface="Trebuchet MS"/>
              </a:rPr>
              <a:t>		</a:t>
            </a:r>
            <a:r>
              <a:rPr dirty="0" sz="2750" spc="-50" b="1">
                <a:latin typeface="Trebuchet MS"/>
                <a:cs typeface="Trebuchet MS"/>
              </a:rPr>
              <a:t>)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5" y="1409700"/>
            <a:ext cx="7096125" cy="48101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968692" y="745924"/>
          <a:ext cx="8740775" cy="80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130"/>
                <a:gridCol w="2717165"/>
                <a:gridCol w="3249929"/>
                <a:gridCol w="1656079"/>
              </a:tblGrid>
              <a:tr h="4927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75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2750" spc="-1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4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dirty="0" sz="2750" spc="-2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1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dirty="0" sz="2750" spc="-1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2750">
                        <a:latin typeface="Trebuchet MS"/>
                        <a:cs typeface="Trebuchet MS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750" spc="-3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dirty="0" sz="2750" spc="-3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1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75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2750" spc="-2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275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endParaRPr sz="2750">
                        <a:latin typeface="Trebuchet MS"/>
                        <a:cs typeface="Trebuchet MS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14649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750" spc="-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2750" spc="-2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2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2750" spc="-2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dirty="0" sz="2750" spc="-204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2750" spc="-2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2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275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2750" spc="-2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45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sz="2750" spc="-1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2750">
                        <a:latin typeface="Trebuchet MS"/>
                        <a:cs typeface="Trebuchet MS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750" spc="-1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275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4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dirty="0" sz="27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dirty="0" sz="2750" spc="-2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N</a:t>
                      </a:r>
                      <a:r>
                        <a:rPr dirty="0" sz="27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2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2750" spc="-2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750" spc="-3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2750">
                        <a:latin typeface="Trebuchet MS"/>
                        <a:cs typeface="Trebuchet MS"/>
                      </a:endParaRPr>
                    </a:p>
                  </a:txBody>
                  <a:tcPr marL="0" marR="0" marB="0" marT="20320"/>
                </a:tc>
              </a:tr>
              <a:tr h="309880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550" spc="-2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dirty="0" sz="1550" spc="1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5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550" spc="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550" spc="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550" spc="-2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</a:t>
                      </a:r>
                      <a:r>
                        <a:rPr dirty="0" sz="1550" spc="1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dirty="0" sz="1550" spc="-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550" spc="-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550" spc="6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550" spc="1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2152650"/>
            <a:ext cx="3981450" cy="38100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2057400"/>
            <a:ext cx="4905375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697" y="573722"/>
            <a:ext cx="773303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17115" algn="l"/>
                <a:tab pos="4250690" algn="l"/>
                <a:tab pos="5165090" algn="l"/>
                <a:tab pos="6088380" algn="l"/>
                <a:tab pos="6717030" algn="l"/>
              </a:tabLst>
            </a:pP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105" b="1">
                <a:latin typeface="Trebuchet MS"/>
                <a:cs typeface="Trebuchet MS"/>
              </a:rPr>
              <a:t>S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105" b="1">
                <a:latin typeface="Trebuchet MS"/>
                <a:cs typeface="Trebuchet MS"/>
              </a:rPr>
              <a:t>S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420" b="1">
                <a:latin typeface="Trebuchet MS"/>
                <a:cs typeface="Trebuchet MS"/>
              </a:rPr>
              <a:t>G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70" b="1">
                <a:latin typeface="Trebuchet MS"/>
                <a:cs typeface="Trebuchet MS"/>
              </a:rPr>
              <a:t>B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335" b="1">
                <a:latin typeface="Trebuchet MS"/>
                <a:cs typeface="Trebuchet MS"/>
              </a:rPr>
              <a:t> 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70" b="1">
                <a:latin typeface="Trebuchet MS"/>
                <a:cs typeface="Trebuchet MS"/>
              </a:rPr>
              <a:t>F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R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R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345" b="1">
                <a:latin typeface="Trebuchet MS"/>
                <a:cs typeface="Trebuchet MS"/>
              </a:rPr>
              <a:t> </a:t>
            </a:r>
            <a:r>
              <a:rPr dirty="0" sz="2750" spc="-500" b="1">
                <a:latin typeface="Trebuchet MS"/>
                <a:cs typeface="Trebuchet MS"/>
              </a:rPr>
              <a:t>O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70" b="1">
                <a:latin typeface="Trebuchet MS"/>
                <a:cs typeface="Trebuchet MS"/>
              </a:rPr>
              <a:t>M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80" b="1">
                <a:latin typeface="Trebuchet MS"/>
                <a:cs typeface="Trebuchet MS"/>
              </a:rPr>
              <a:t>V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1219200"/>
            <a:ext cx="5695950" cy="5029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09394" y="1405255"/>
            <a:ext cx="346392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9414" algn="l"/>
              </a:tabLst>
            </a:pP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2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54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54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2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35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2750" spc="-2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5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7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3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5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2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905000"/>
            <a:ext cx="6629400" cy="11525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13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9622" y="3358832"/>
            <a:ext cx="4551045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Friction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only</a:t>
            </a:r>
            <a:r>
              <a:rPr dirty="0" sz="18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works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axis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8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change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8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axis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respect</a:t>
            </a:r>
            <a:r>
              <a:rPr dirty="0" sz="18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friction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9700"/>
              </a:lnSpc>
              <a:spcBef>
                <a:spcPts val="105"/>
              </a:spcBef>
            </a:pPr>
            <a:r>
              <a:rPr dirty="0" spc="25"/>
              <a:t>Used</a:t>
            </a:r>
            <a:r>
              <a:rPr dirty="0" spc="-125"/>
              <a:t> </a:t>
            </a:r>
            <a:r>
              <a:rPr dirty="0" spc="-105"/>
              <a:t>If</a:t>
            </a:r>
            <a:r>
              <a:rPr dirty="0" spc="-160"/>
              <a:t> </a:t>
            </a:r>
            <a:r>
              <a:rPr dirty="0" spc="-75"/>
              <a:t>-</a:t>
            </a:r>
            <a:r>
              <a:rPr dirty="0" spc="-140"/>
              <a:t> </a:t>
            </a:r>
            <a:r>
              <a:rPr dirty="0" spc="-55"/>
              <a:t>condition</a:t>
            </a:r>
            <a:r>
              <a:rPr dirty="0" spc="-110"/>
              <a:t> </a:t>
            </a:r>
            <a:r>
              <a:rPr dirty="0" spc="-105"/>
              <a:t>for</a:t>
            </a:r>
            <a:r>
              <a:rPr dirty="0" spc="-110"/>
              <a:t> </a:t>
            </a:r>
            <a:r>
              <a:rPr dirty="0" spc="-60"/>
              <a:t>both</a:t>
            </a:r>
            <a:r>
              <a:rPr dirty="0" spc="-120"/>
              <a:t> </a:t>
            </a:r>
            <a:r>
              <a:rPr dirty="0" spc="-100"/>
              <a:t>front</a:t>
            </a:r>
            <a:r>
              <a:rPr dirty="0" spc="-135"/>
              <a:t> </a:t>
            </a:r>
            <a:r>
              <a:rPr dirty="0" spc="-5"/>
              <a:t>and</a:t>
            </a:r>
            <a:r>
              <a:rPr dirty="0" spc="-200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65"/>
              <a:t>wheel</a:t>
            </a:r>
            <a:r>
              <a:rPr dirty="0" spc="-210"/>
              <a:t> </a:t>
            </a:r>
            <a:r>
              <a:rPr dirty="0" spc="-170"/>
              <a:t>.</a:t>
            </a:r>
            <a:r>
              <a:rPr dirty="0" spc="-215"/>
              <a:t> </a:t>
            </a:r>
            <a:r>
              <a:rPr dirty="0" spc="70"/>
              <a:t>So</a:t>
            </a:r>
            <a:r>
              <a:rPr dirty="0" spc="-120"/>
              <a:t> </a:t>
            </a:r>
            <a:r>
              <a:rPr dirty="0" spc="-90"/>
              <a:t>that</a:t>
            </a:r>
            <a:r>
              <a:rPr dirty="0" spc="-130"/>
              <a:t> </a:t>
            </a:r>
            <a:r>
              <a:rPr dirty="0" spc="-80"/>
              <a:t>friction</a:t>
            </a:r>
            <a:r>
              <a:rPr dirty="0" spc="-110"/>
              <a:t> </a:t>
            </a:r>
            <a:r>
              <a:rPr dirty="0" spc="-65"/>
              <a:t>only</a:t>
            </a:r>
            <a:r>
              <a:rPr dirty="0" spc="-155"/>
              <a:t> </a:t>
            </a:r>
            <a:r>
              <a:rPr dirty="0" spc="-30"/>
              <a:t>acts</a:t>
            </a:r>
            <a:r>
              <a:rPr dirty="0" spc="-145"/>
              <a:t> </a:t>
            </a:r>
            <a:r>
              <a:rPr dirty="0" spc="-50"/>
              <a:t>when</a:t>
            </a:r>
            <a:r>
              <a:rPr dirty="0" spc="-180"/>
              <a:t> </a:t>
            </a:r>
            <a:r>
              <a:rPr dirty="0" spc="-70"/>
              <a:t>the</a:t>
            </a:r>
            <a:r>
              <a:rPr dirty="0" spc="-35"/>
              <a:t> </a:t>
            </a:r>
            <a:r>
              <a:rPr dirty="0" spc="-50"/>
              <a:t>wheels</a:t>
            </a:r>
            <a:r>
              <a:rPr dirty="0" spc="-145"/>
              <a:t> </a:t>
            </a:r>
            <a:r>
              <a:rPr dirty="0" spc="-110"/>
              <a:t>of</a:t>
            </a:r>
            <a:r>
              <a:rPr dirty="0" spc="-90"/>
              <a:t> </a:t>
            </a:r>
            <a:r>
              <a:rPr dirty="0" spc="-70"/>
              <a:t>the</a:t>
            </a:r>
            <a:r>
              <a:rPr dirty="0" spc="-200"/>
              <a:t> </a:t>
            </a:r>
            <a:r>
              <a:rPr dirty="0" spc="-25"/>
              <a:t>car</a:t>
            </a:r>
            <a:r>
              <a:rPr dirty="0" spc="-105"/>
              <a:t> </a:t>
            </a:r>
            <a:r>
              <a:rPr dirty="0" spc="-35"/>
              <a:t>on</a:t>
            </a:r>
            <a:r>
              <a:rPr dirty="0" spc="-180"/>
              <a:t> </a:t>
            </a:r>
            <a:r>
              <a:rPr dirty="0" spc="-70"/>
              <a:t>the</a:t>
            </a:r>
            <a:r>
              <a:rPr dirty="0" spc="-125"/>
              <a:t> </a:t>
            </a:r>
            <a:r>
              <a:rPr dirty="0" spc="-25"/>
              <a:t>ground</a:t>
            </a:r>
            <a:r>
              <a:rPr dirty="0" spc="-125"/>
              <a:t> </a:t>
            </a:r>
            <a:r>
              <a:rPr dirty="0" spc="-80"/>
              <a:t>or</a:t>
            </a:r>
            <a:r>
              <a:rPr dirty="0" spc="-105"/>
              <a:t> </a:t>
            </a:r>
            <a:r>
              <a:rPr dirty="0" spc="-70"/>
              <a:t>detect</a:t>
            </a:r>
            <a:r>
              <a:rPr dirty="0" spc="-120"/>
              <a:t> </a:t>
            </a:r>
            <a:r>
              <a:rPr dirty="0" spc="-30"/>
              <a:t>a</a:t>
            </a:r>
            <a:r>
              <a:rPr dirty="0" spc="-120"/>
              <a:t> </a:t>
            </a:r>
            <a:r>
              <a:rPr dirty="0" spc="-55"/>
              <a:t>collision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0775" y="3219450"/>
            <a:ext cx="5133975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239" y="722947"/>
            <a:ext cx="547243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97635" algn="l"/>
                <a:tab pos="1812289" algn="l"/>
                <a:tab pos="3866515" algn="l"/>
                <a:tab pos="4759960" algn="l"/>
              </a:tabLst>
            </a:pPr>
            <a:r>
              <a:rPr dirty="0" sz="2750" spc="-215" b="1">
                <a:latin typeface="Trebuchet MS"/>
                <a:cs typeface="Trebuchet MS"/>
              </a:rPr>
              <a:t>P</a:t>
            </a:r>
            <a:r>
              <a:rPr dirty="0" sz="2750" spc="-38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8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345" b="1">
                <a:latin typeface="Trebuchet MS"/>
                <a:cs typeface="Trebuchet MS"/>
              </a:rPr>
              <a:t>4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455" b="1">
                <a:latin typeface="Trebuchet MS"/>
                <a:cs typeface="Trebuchet MS"/>
              </a:rPr>
              <a:t>–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280" b="1">
                <a:latin typeface="Trebuchet MS"/>
                <a:cs typeface="Trebuchet MS"/>
              </a:rPr>
              <a:t> </a:t>
            </a:r>
            <a:r>
              <a:rPr dirty="0" sz="2750" spc="-450" b="1">
                <a:latin typeface="Trebuchet MS"/>
                <a:cs typeface="Trebuchet MS"/>
              </a:rPr>
              <a:t>O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41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85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80" b="1">
                <a:latin typeface="Trebuchet MS"/>
                <a:cs typeface="Trebuchet MS"/>
              </a:rPr>
              <a:t>N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420" b="1">
                <a:latin typeface="Trebuchet MS"/>
                <a:cs typeface="Trebuchet MS"/>
              </a:rPr>
              <a:t>G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H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145" b="1">
                <a:latin typeface="Trebuchet MS"/>
                <a:cs typeface="Trebuchet MS"/>
              </a:rPr>
              <a:t>R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525" y="1381125"/>
            <a:ext cx="9239250" cy="17526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2357" y="3653218"/>
            <a:ext cx="8976360" cy="11201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Defining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angle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struct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assigning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8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initial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value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degree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we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use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Vectro2LIneAngle() 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since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8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front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wheel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have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coordinate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(x,y)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18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change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ANGLE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degree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(RAD2DEG)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05"/>
              </a:lnSpc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18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change</a:t>
            </a:r>
            <a:r>
              <a:rPr dirty="0" sz="1800" spc="-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rotation</a:t>
            </a:r>
            <a:r>
              <a:rPr dirty="0" sz="18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angle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8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press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some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buttons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7905" y="674369"/>
            <a:ext cx="276288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21080" algn="l"/>
                <a:tab pos="1564005" algn="l"/>
              </a:tabLst>
            </a:pP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35" b="1">
                <a:latin typeface="Trebuchet MS"/>
                <a:cs typeface="Trebuchet MS"/>
              </a:rPr>
              <a:t>W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155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90" b="1">
                <a:latin typeface="Trebuchet MS"/>
                <a:cs typeface="Trebuchet MS"/>
              </a:rPr>
              <a:t>K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47775" y="1385887"/>
            <a:ext cx="12763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6385" algn="l"/>
              </a:tabLst>
            </a:pP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dirty="0" sz="180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got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47144" y="1385887"/>
            <a:ext cx="5918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FAILS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1847850"/>
            <a:ext cx="4200525" cy="3695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828800"/>
            <a:ext cx="4295775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744" y="682243"/>
            <a:ext cx="800354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97355" algn="l"/>
                <a:tab pos="3952875" algn="l"/>
                <a:tab pos="6370955" algn="l"/>
              </a:tabLst>
            </a:pPr>
            <a:r>
              <a:rPr dirty="0" sz="2750" spc="-170" b="1">
                <a:latin typeface="Trebuchet MS"/>
                <a:cs typeface="Trebuchet MS"/>
              </a:rPr>
              <a:t>M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90" b="1">
                <a:latin typeface="Trebuchet MS"/>
                <a:cs typeface="Trebuchet MS"/>
              </a:rPr>
              <a:t>K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420" b="1">
                <a:latin typeface="Trebuchet MS"/>
                <a:cs typeface="Trebuchet MS"/>
              </a:rPr>
              <a:t>G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54" b="1">
                <a:latin typeface="Trebuchet MS"/>
                <a:cs typeface="Trebuchet MS"/>
              </a:rPr>
              <a:t>D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170" b="1">
                <a:latin typeface="Trebuchet MS"/>
                <a:cs typeface="Trebuchet MS"/>
              </a:rPr>
              <a:t>M</a:t>
            </a:r>
            <a:r>
              <a:rPr dirty="0" sz="2750" spc="-254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380" b="1">
                <a:latin typeface="Trebuchet MS"/>
                <a:cs typeface="Trebuchet MS"/>
              </a:rPr>
              <a:t> </a:t>
            </a:r>
            <a:r>
              <a:rPr dirty="0" sz="2750" spc="-455" b="1">
                <a:latin typeface="Trebuchet MS"/>
                <a:cs typeface="Trebuchet MS"/>
              </a:rPr>
              <a:t>Y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9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85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D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170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265" b="1">
                <a:latin typeface="Trebuchet MS"/>
                <a:cs typeface="Trebuchet MS"/>
              </a:rPr>
              <a:t> </a:t>
            </a:r>
            <a:r>
              <a:rPr dirty="0" sz="2750" spc="-225" b="1">
                <a:latin typeface="Trebuchet MS"/>
                <a:cs typeface="Trebuchet MS"/>
              </a:rPr>
              <a:t>R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10" b="1"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181100"/>
            <a:ext cx="6724650" cy="28860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9175" y="4267199"/>
            <a:ext cx="6905625" cy="25812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662" y="674369"/>
            <a:ext cx="3799204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21715" algn="l"/>
                <a:tab pos="1564640" algn="l"/>
                <a:tab pos="2973705" algn="l"/>
              </a:tabLst>
            </a:pP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35" b="1">
                <a:latin typeface="Trebuchet MS"/>
                <a:cs typeface="Trebuchet MS"/>
              </a:rPr>
              <a:t>W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155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90" b="1">
                <a:latin typeface="Trebuchet MS"/>
                <a:cs typeface="Trebuchet MS"/>
              </a:rPr>
              <a:t>K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90" b="1">
                <a:latin typeface="Trebuchet MS"/>
                <a:cs typeface="Trebuchet MS"/>
              </a:rPr>
              <a:t>K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1171575"/>
            <a:ext cx="5829300" cy="53530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180" y="230505"/>
            <a:ext cx="823404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40839" algn="l"/>
                <a:tab pos="2783205" algn="l"/>
                <a:tab pos="3411854" algn="l"/>
                <a:tab pos="5506085" algn="l"/>
                <a:tab pos="7753350" algn="l"/>
              </a:tabLst>
            </a:pP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31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75" b="1">
                <a:latin typeface="Trebuchet MS"/>
                <a:cs typeface="Trebuchet MS"/>
              </a:rPr>
              <a:t>’</a:t>
            </a:r>
            <a:r>
              <a:rPr dirty="0" sz="2750" spc="-200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155" b="1">
                <a:latin typeface="Trebuchet MS"/>
                <a:cs typeface="Trebuchet MS"/>
              </a:rPr>
              <a:t>B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345" b="1">
                <a:latin typeface="Trebuchet MS"/>
                <a:cs typeface="Trebuchet MS"/>
              </a:rPr>
              <a:t> </a:t>
            </a:r>
            <a:r>
              <a:rPr dirty="0" sz="2750" spc="-480" b="1">
                <a:latin typeface="Trebuchet MS"/>
                <a:cs typeface="Trebuchet MS"/>
              </a:rPr>
              <a:t>O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210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170" b="1">
                <a:latin typeface="Trebuchet MS"/>
                <a:cs typeface="Trebuchet MS"/>
              </a:rPr>
              <a:t>M</a:t>
            </a:r>
            <a:r>
              <a:rPr dirty="0" sz="2750" spc="-18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7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10" b="1">
                <a:latin typeface="Trebuchet MS"/>
                <a:cs typeface="Trebuchet MS"/>
              </a:rPr>
              <a:t> 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260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100" b="1">
                <a:latin typeface="Trebuchet MS"/>
                <a:cs typeface="Trebuchet MS"/>
              </a:rPr>
              <a:t>S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90" b="1">
                <a:latin typeface="Trebuchet MS"/>
                <a:cs typeface="Trebuchet MS"/>
              </a:rPr>
              <a:t>I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10" b="1">
                <a:latin typeface="Trebuchet MS"/>
                <a:cs typeface="Trebuchet MS"/>
              </a:rPr>
              <a:t>N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310" b="1"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59180" y="746061"/>
            <a:ext cx="632206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69490" algn="l"/>
                <a:tab pos="4688840" algn="l"/>
              </a:tabLst>
            </a:pP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54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170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50" spc="-25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4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5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37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27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50" spc="-2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5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50" spc="-2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3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50" spc="-2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5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750" spc="-45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8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5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50" spc="-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2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9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5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33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09394" y="2360231"/>
            <a:ext cx="6688455" cy="786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gpt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was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able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fingure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some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things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figure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what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happening</a:t>
            </a:r>
            <a:r>
              <a:rPr dirty="0" sz="18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80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plotted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points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terrain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004" y="2647632"/>
            <a:ext cx="4603750" cy="849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400" spc="90" b="1">
                <a:latin typeface="Trebuchet MS"/>
                <a:cs typeface="Trebuchet MS"/>
              </a:rPr>
              <a:t>F</a:t>
            </a:r>
            <a:r>
              <a:rPr dirty="0" sz="5400" spc="145" b="1">
                <a:latin typeface="Trebuchet MS"/>
                <a:cs typeface="Trebuchet MS"/>
              </a:rPr>
              <a:t>I</a:t>
            </a:r>
            <a:r>
              <a:rPr dirty="0" sz="5400" spc="125" b="1">
                <a:latin typeface="Trebuchet MS"/>
                <a:cs typeface="Trebuchet MS"/>
              </a:rPr>
              <a:t>N</a:t>
            </a:r>
            <a:r>
              <a:rPr dirty="0" sz="5400" spc="110" b="1">
                <a:latin typeface="Trebuchet MS"/>
                <a:cs typeface="Trebuchet MS"/>
              </a:rPr>
              <a:t>A</a:t>
            </a:r>
            <a:r>
              <a:rPr dirty="0" sz="5400" spc="-475" b="1">
                <a:latin typeface="Trebuchet MS"/>
                <a:cs typeface="Trebuchet MS"/>
              </a:rPr>
              <a:t>L</a:t>
            </a:r>
            <a:r>
              <a:rPr dirty="0" sz="5400" spc="204" b="1">
                <a:latin typeface="Trebuchet MS"/>
                <a:cs typeface="Trebuchet MS"/>
              </a:rPr>
              <a:t> </a:t>
            </a:r>
            <a:r>
              <a:rPr dirty="0" sz="5400" spc="-180" b="1">
                <a:latin typeface="Trebuchet MS"/>
                <a:cs typeface="Trebuchet MS"/>
              </a:rPr>
              <a:t>O</a:t>
            </a:r>
            <a:r>
              <a:rPr dirty="0" sz="5400" spc="-175" b="1">
                <a:latin typeface="Trebuchet MS"/>
                <a:cs typeface="Trebuchet MS"/>
              </a:rPr>
              <a:t>U</a:t>
            </a:r>
            <a:r>
              <a:rPr dirty="0" sz="5400" spc="-160" b="1">
                <a:latin typeface="Trebuchet MS"/>
                <a:cs typeface="Trebuchet MS"/>
              </a:rPr>
              <a:t>T</a:t>
            </a:r>
            <a:r>
              <a:rPr dirty="0" sz="5400" spc="-140" b="1">
                <a:latin typeface="Trebuchet MS"/>
                <a:cs typeface="Trebuchet MS"/>
              </a:rPr>
              <a:t>P</a:t>
            </a:r>
            <a:r>
              <a:rPr dirty="0" sz="5400" spc="-175" b="1">
                <a:latin typeface="Trebuchet MS"/>
                <a:cs typeface="Trebuchet MS"/>
              </a:rPr>
              <a:t>U</a:t>
            </a:r>
            <a:r>
              <a:rPr dirty="0" sz="5400" spc="-755" b="1">
                <a:latin typeface="Trebuchet MS"/>
                <a:cs typeface="Trebuchet MS"/>
              </a:rPr>
              <a:t>T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922779" y="3702748"/>
            <a:ext cx="47428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Let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u9999s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play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around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some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19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1405255"/>
            <a:ext cx="475043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31265" algn="l"/>
                <a:tab pos="1536065" algn="l"/>
                <a:tab pos="2498090" algn="l"/>
                <a:tab pos="3640454" algn="l"/>
                <a:tab pos="4269105" algn="l"/>
              </a:tabLst>
            </a:pP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16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390" b="1">
                <a:latin typeface="Trebuchet MS"/>
                <a:cs typeface="Trebuchet MS"/>
              </a:rPr>
              <a:t> </a:t>
            </a:r>
            <a:r>
              <a:rPr dirty="0" sz="2750" spc="-509" b="1">
                <a:latin typeface="Trebuchet MS"/>
                <a:cs typeface="Trebuchet MS"/>
              </a:rPr>
              <a:t>T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50" b="1">
                <a:latin typeface="Trebuchet MS"/>
                <a:cs typeface="Trebuchet MS"/>
              </a:rPr>
              <a:t>I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84" b="1">
                <a:latin typeface="Trebuchet MS"/>
                <a:cs typeface="Trebuchet MS"/>
              </a:rPr>
              <a:t>W</a:t>
            </a:r>
            <a:r>
              <a:rPr dirty="0" sz="2750" spc="-310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155" b="1">
                <a:latin typeface="Trebuchet MS"/>
                <a:cs typeface="Trebuchet MS"/>
              </a:rPr>
              <a:t>B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335" b="1">
                <a:latin typeface="Trebuchet MS"/>
                <a:cs typeface="Trebuchet MS"/>
              </a:rPr>
              <a:t>E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345" b="1">
                <a:latin typeface="Trebuchet MS"/>
                <a:cs typeface="Trebuchet MS"/>
              </a:rPr>
              <a:t> </a:t>
            </a:r>
            <a:r>
              <a:rPr dirty="0" sz="2750" spc="-480" b="1">
                <a:latin typeface="Trebuchet MS"/>
                <a:cs typeface="Trebuchet MS"/>
              </a:rPr>
              <a:t>O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254" b="1">
                <a:latin typeface="Trebuchet MS"/>
                <a:cs typeface="Trebuchet MS"/>
              </a:rPr>
              <a:t>D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480" b="1">
                <a:latin typeface="Trebuchet MS"/>
                <a:cs typeface="Trebuchet MS"/>
              </a:rPr>
              <a:t>O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610100" y="2304986"/>
            <a:ext cx="633730" cy="967105"/>
            <a:chOff x="4610100" y="2304986"/>
            <a:chExt cx="633730" cy="9671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100" y="2304986"/>
              <a:ext cx="595312" cy="48101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00" y="2790761"/>
              <a:ext cx="595312" cy="481012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300" y="3276536"/>
            <a:ext cx="595312" cy="48101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7175" y="3752786"/>
            <a:ext cx="595312" cy="48101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6875" y="4238561"/>
            <a:ext cx="595312" cy="48101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09394" y="2360231"/>
            <a:ext cx="4071620" cy="2723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gravity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friction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terrain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collision</a:t>
            </a:r>
            <a:r>
              <a:rPr dirty="0" sz="18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objects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59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Simulate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suspension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Generate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randomly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generated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terrain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good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game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graphics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257675" y="4724336"/>
            <a:ext cx="909955" cy="481330"/>
            <a:chOff x="4257675" y="4724336"/>
            <a:chExt cx="909955" cy="48133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675" y="4724336"/>
              <a:ext cx="595312" cy="48101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0" y="4724336"/>
              <a:ext cx="595312" cy="481012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1405255"/>
            <a:ext cx="416179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77795" algn="l"/>
                <a:tab pos="2983230" algn="l"/>
              </a:tabLst>
            </a:pP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16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L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45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70" b="1">
                <a:latin typeface="Trebuchet MS"/>
                <a:cs typeface="Trebuchet MS"/>
              </a:rPr>
              <a:t>G</a:t>
            </a:r>
            <a:r>
              <a:rPr dirty="0" sz="2750" spc="-220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50" b="1">
                <a:latin typeface="Trebuchet MS"/>
                <a:cs typeface="Trebuchet MS"/>
              </a:rPr>
              <a:t>S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50" b="1">
                <a:latin typeface="Trebuchet MS"/>
                <a:cs typeface="Trebuchet MS"/>
              </a:rPr>
              <a:t>I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355" b="1">
                <a:latin typeface="Trebuchet MS"/>
                <a:cs typeface="Trebuchet MS"/>
              </a:rPr>
              <a:t>F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270" b="1">
                <a:latin typeface="Trebuchet MS"/>
                <a:cs typeface="Trebuchet MS"/>
              </a:rPr>
              <a:t>C</a:t>
            </a:r>
            <a:r>
              <a:rPr dirty="0" sz="2750" spc="-229" b="1">
                <a:latin typeface="Trebuchet MS"/>
                <a:cs typeface="Trebuchet MS"/>
              </a:rPr>
              <a:t> </a:t>
            </a:r>
            <a:r>
              <a:rPr dirty="0" sz="2750" spc="-285" b="1">
                <a:latin typeface="Trebuchet MS"/>
                <a:cs typeface="Trebuchet MS"/>
              </a:rPr>
              <a:t>E</a:t>
            </a:r>
            <a:r>
              <a:rPr dirty="0" sz="2750" spc="-250" b="1">
                <a:latin typeface="Trebuchet MS"/>
                <a:cs typeface="Trebuchet MS"/>
              </a:rPr>
              <a:t> </a:t>
            </a:r>
            <a:r>
              <a:rPr dirty="0" sz="2750" spc="-135" b="1">
                <a:latin typeface="Trebuchet MS"/>
                <a:cs typeface="Trebuchet MS"/>
              </a:rPr>
              <a:t>D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9394" y="2360231"/>
            <a:ext cx="8276590" cy="1273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suspension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2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18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even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chatgpt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help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me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0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Collision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detection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didn’t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understand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,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found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pasted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167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Making</a:t>
            </a:r>
            <a:r>
              <a:rPr dirty="0" sz="18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wheels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move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8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while</a:t>
            </a:r>
            <a:r>
              <a:rPr dirty="0" sz="18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rotating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21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394" y="1405255"/>
            <a:ext cx="249809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61135" algn="l"/>
              </a:tabLst>
            </a:pPr>
            <a:r>
              <a:rPr dirty="0" sz="2750" spc="-459" b="1">
                <a:latin typeface="Trebuchet MS"/>
                <a:cs typeface="Trebuchet MS"/>
              </a:rPr>
              <a:t>T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300" b="1">
                <a:latin typeface="Trebuchet MS"/>
                <a:cs typeface="Trebuchet MS"/>
              </a:rPr>
              <a:t>H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15" b="1">
                <a:latin typeface="Trebuchet MS"/>
                <a:cs typeface="Trebuchet MS"/>
              </a:rPr>
              <a:t>A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260" b="1">
                <a:latin typeface="Trebuchet MS"/>
                <a:cs typeface="Trebuchet MS"/>
              </a:rPr>
              <a:t>N</a:t>
            </a:r>
            <a:r>
              <a:rPr dirty="0" sz="2750" spc="-235" b="1">
                <a:latin typeface="Trebuchet MS"/>
                <a:cs typeface="Trebuchet MS"/>
              </a:rPr>
              <a:t> </a:t>
            </a:r>
            <a:r>
              <a:rPr dirty="0" sz="2750" spc="-340" b="1">
                <a:latin typeface="Trebuchet MS"/>
                <a:cs typeface="Trebuchet MS"/>
              </a:rPr>
              <a:t>K</a:t>
            </a:r>
            <a:r>
              <a:rPr dirty="0" sz="2750" b="1">
                <a:latin typeface="Trebuchet MS"/>
                <a:cs typeface="Trebuchet MS"/>
              </a:rPr>
              <a:t>	</a:t>
            </a:r>
            <a:r>
              <a:rPr dirty="0" sz="2750" spc="-405" b="1">
                <a:latin typeface="Trebuchet MS"/>
                <a:cs typeface="Trebuchet MS"/>
              </a:rPr>
              <a:t>Y</a:t>
            </a:r>
            <a:r>
              <a:rPr dirty="0" sz="2750" spc="-270" b="1">
                <a:latin typeface="Trebuchet MS"/>
                <a:cs typeface="Trebuchet MS"/>
              </a:rPr>
              <a:t> </a:t>
            </a:r>
            <a:r>
              <a:rPr dirty="0" sz="2750" spc="-430" b="1">
                <a:latin typeface="Trebuchet MS"/>
                <a:cs typeface="Trebuchet MS"/>
              </a:rPr>
              <a:t>O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320" b="1">
                <a:latin typeface="Trebuchet MS"/>
                <a:cs typeface="Trebuchet MS"/>
              </a:rPr>
              <a:t>U</a:t>
            </a:r>
            <a:r>
              <a:rPr dirty="0" sz="2750" spc="-210" b="1">
                <a:latin typeface="Trebuchet MS"/>
                <a:cs typeface="Trebuchet MS"/>
              </a:rPr>
              <a:t> </a:t>
            </a:r>
            <a:r>
              <a:rPr dirty="0" sz="2750" spc="-375" b="1">
                <a:latin typeface="Trebuchet MS"/>
                <a:cs typeface="Trebuchet MS"/>
              </a:rPr>
              <a:t>!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425" b="1">
                <a:latin typeface="Trebuchet MS"/>
                <a:cs typeface="Trebuchet MS"/>
              </a:rPr>
              <a:t>!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9394" y="2272347"/>
            <a:ext cx="7256780" cy="75057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95"/>
              </a:spcBef>
              <a:buSzPct val="83333"/>
              <a:buFont typeface="Arial MT"/>
              <a:buChar char="•"/>
              <a:tabLst>
                <a:tab pos="287020" algn="l"/>
              </a:tabLst>
            </a:pP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18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prototype</a:t>
            </a:r>
            <a:endParaRPr sz="1800">
              <a:latin typeface="Trebuchet MS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695"/>
              </a:spcBef>
            </a:pP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of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the</a:t>
            </a:r>
            <a:r>
              <a:rPr dirty="0" sz="180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update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my</a:t>
            </a:r>
            <a:r>
              <a:rPr dirty="0" sz="18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git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u="sng" sz="1800" spc="-30">
                <a:solidFill>
                  <a:srgbClr val="1F855C"/>
                </a:solidFill>
                <a:uFill>
                  <a:solidFill>
                    <a:srgbClr val="1F855C"/>
                  </a:solidFill>
                </a:uFill>
                <a:latin typeface="Trebuchet MS"/>
                <a:cs typeface="Trebuchet MS"/>
                <a:hlinkClick r:id="rId2"/>
              </a:rPr>
              <a:t>andrewsteevjacob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50994" y="3821429"/>
            <a:ext cx="128270" cy="730885"/>
          </a:xfrm>
          <a:prstGeom prst="rect">
            <a:avLst/>
          </a:prstGeom>
        </p:spPr>
        <p:txBody>
          <a:bodyPr wrap="square" lIns="0" tIns="1206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16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6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6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07241" y="3295078"/>
            <a:ext cx="2159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22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85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2025-12-07T16:51:31Z</dcterms:created>
  <dcterms:modified xsi:type="dcterms:W3CDTF">2025-12-07T16:51:31Z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LastSaved">
    <vt:filetime>2025-12-07T00:00:00Z</vt:filetime>
  </property>
</Properties>
</file>